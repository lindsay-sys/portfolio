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2" r:id="rId4"/>
    <p:sldId id="264" r:id="rId5"/>
    <p:sldId id="265" r:id="rId6"/>
    <p:sldId id="26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93741" autoAdjust="0"/>
  </p:normalViewPr>
  <p:slideViewPr>
    <p:cSldViewPr snapToGrid="0">
      <p:cViewPr varScale="1">
        <p:scale>
          <a:sx n="64" d="100"/>
          <a:sy n="64" d="100"/>
        </p:scale>
        <p:origin x="7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5CA2-6D7B-7362-E313-AB30865D2C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D8B50C-7794-C9BF-BB02-9E46705E3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204E74-AE7B-1C31-B983-CD8CA54B4678}"/>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E8C2685D-B609-EC1E-5C42-BE4725F25B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377A3-41B0-1E4A-FD73-7730EFDCD0F4}"/>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3529322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1CF11-1727-C548-347B-F59FD460BD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7CF9FA-1FA3-85A6-B807-B33ED44DE5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2CDC9-0777-0FC3-23CB-D3D1FA1B3098}"/>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F74C06C1-A7B9-5B95-EB0A-4E48A5B31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E9265A-CE61-2FCA-FD25-87518C844135}"/>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3663082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C386-5C39-05CB-9E6E-8A916BEDE3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7FDC40-9D14-C55A-588B-F0EDFB50C9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60FA77-B561-010E-6A3E-7357DDF68A75}"/>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7E7F3930-DB08-0B98-9B30-2E7B0BC51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3DBE4C-EF38-9BA0-09FB-CBDE9A78D408}"/>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017861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5899A-FFF2-DB40-88C5-465C0979C6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3652EE-2A9F-0B53-3E8F-3140B8498D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4D5E84-C22C-1C47-D105-FE200AE30C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F8FC6-8F93-BB93-24B7-46B84EA6A30F}"/>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6" name="Footer Placeholder 5">
            <a:extLst>
              <a:ext uri="{FF2B5EF4-FFF2-40B4-BE49-F238E27FC236}">
                <a16:creationId xmlns:a16="http://schemas.microsoft.com/office/drawing/2014/main" id="{7110B6B9-B026-DBD7-EE3F-1242AA38C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AD7FBC-CAD5-1F3A-96F8-216009EEA35B}"/>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839561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C92B-0FED-CB48-D2C6-5E74307A06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4FBC61-A35C-B030-CCC9-E14239B09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84E867-E7AF-1E3B-3BF7-7595720D97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69FE77-FDD1-EDDD-3E21-F477FE414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FACDED-8BBD-3B58-5AA4-D54B89D6FE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46A2E4-65DA-041E-41FB-36F067C6E164}"/>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8" name="Footer Placeholder 7">
            <a:extLst>
              <a:ext uri="{FF2B5EF4-FFF2-40B4-BE49-F238E27FC236}">
                <a16:creationId xmlns:a16="http://schemas.microsoft.com/office/drawing/2014/main" id="{4E7FCF54-6633-D372-4BA7-3B53E38495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BACF8C-93B9-874C-B8A9-2F323770754C}"/>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337878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7927-7A4B-17EF-38F3-B5086B6EDE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B112ED-76BF-92A0-849C-54A6193D8F98}"/>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4" name="Footer Placeholder 3">
            <a:extLst>
              <a:ext uri="{FF2B5EF4-FFF2-40B4-BE49-F238E27FC236}">
                <a16:creationId xmlns:a16="http://schemas.microsoft.com/office/drawing/2014/main" id="{EB09AF19-FEB9-6F5A-09B1-711FED5F41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E7878D-501F-0AA4-D755-A615EE326187}"/>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1159266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81A377-7025-DE98-7108-D976517ED493}"/>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3" name="Footer Placeholder 2">
            <a:extLst>
              <a:ext uri="{FF2B5EF4-FFF2-40B4-BE49-F238E27FC236}">
                <a16:creationId xmlns:a16="http://schemas.microsoft.com/office/drawing/2014/main" id="{452135F5-8CF9-DF44-E7D1-5E41E7D609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F53262-EBB3-197E-D976-643C8F38B7F7}"/>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1084946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03FB-DF8F-58D0-AEB6-4581533EC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BEA908-7F67-8A0F-960D-E95CA14E81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8A9626-A23D-FDC2-EB23-B4CE6ACF99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3D0674-4231-8B76-B623-88435626BC81}"/>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6" name="Footer Placeholder 5">
            <a:extLst>
              <a:ext uri="{FF2B5EF4-FFF2-40B4-BE49-F238E27FC236}">
                <a16:creationId xmlns:a16="http://schemas.microsoft.com/office/drawing/2014/main" id="{A5342CA5-88EF-493A-CCE9-C6D1A6A782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50C144-3390-3A6A-F037-BCF3017A0F0F}"/>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597104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43EC-A27E-E290-CB6D-54878C543E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82F5DE-4B52-C410-C115-38589509B9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A7102A-628C-B177-8F87-62A9E7A537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312FE-1855-563C-56DE-8C572CE99E4E}"/>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6" name="Footer Placeholder 5">
            <a:extLst>
              <a:ext uri="{FF2B5EF4-FFF2-40B4-BE49-F238E27FC236}">
                <a16:creationId xmlns:a16="http://schemas.microsoft.com/office/drawing/2014/main" id="{A2A99387-183F-064A-7861-73B0AA9A35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01347B-BC59-9CB5-3B49-FC879A2953C1}"/>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096778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0E37-1279-8CAC-CEAC-67BAAE7A4C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1EAB4A-61AB-FBA1-0B81-803EADD472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9B7E8-5B7A-1CF7-C40F-F881CE18A36E}"/>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CAC123FA-61E0-F1D5-3A8F-0432ED2E18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A0C9A-1147-3374-8EBF-ADDBB74DD353}"/>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285430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74267A-472A-859F-3C33-3E084F48FF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82D85E-CC95-4D37-A7DB-25F0D25D6C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338F00-4F7C-17FB-3805-59CFCFACC071}"/>
              </a:ext>
            </a:extLst>
          </p:cNvPr>
          <p:cNvSpPr>
            <a:spLocks noGrp="1"/>
          </p:cNvSpPr>
          <p:nvPr>
            <p:ph type="dt" sz="half" idx="10"/>
          </p:nvPr>
        </p:nvSpPr>
        <p:spPr/>
        <p:txBody>
          <a:body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0607B887-3AF7-4792-BEE6-2C5F2EC8A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7F5065-F644-A7B7-1429-CF56F1F65826}"/>
              </a:ext>
            </a:extLst>
          </p:cNvPr>
          <p:cNvSpPr>
            <a:spLocks noGrp="1"/>
          </p:cNvSpPr>
          <p:nvPr>
            <p:ph type="sldNum" sz="quarter" idx="12"/>
          </p:nvPr>
        </p:nvSpPr>
        <p:spPr/>
        <p:txBody>
          <a:bodyPr/>
          <a:lstStyle/>
          <a:p>
            <a:fld id="{0C16F9E6-6F35-4EEE-AC0D-1D22E6C3D3E1}" type="slidenum">
              <a:rPr lang="en-US" smtClean="0"/>
              <a:t>‹#›</a:t>
            </a:fld>
            <a:endParaRPr lang="en-US"/>
          </a:p>
        </p:txBody>
      </p:sp>
    </p:spTree>
    <p:extLst>
      <p:ext uri="{BB962C8B-B14F-4D97-AF65-F5344CB8AC3E}">
        <p14:creationId xmlns:p14="http://schemas.microsoft.com/office/powerpoint/2010/main" val="1771679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3349BC-C43F-F7EC-0D4A-AFA87501BD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B4A84E-A628-A695-119E-F6DAB5F0EF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A3F31-AEAF-3C10-207F-6A45B5DE47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E4A9AA-1999-44DF-A903-5C86E6DD3E50}" type="datetimeFigureOut">
              <a:rPr lang="en-US" smtClean="0"/>
              <a:t>1/30/2026</a:t>
            </a:fld>
            <a:endParaRPr lang="en-US"/>
          </a:p>
        </p:txBody>
      </p:sp>
      <p:sp>
        <p:nvSpPr>
          <p:cNvPr id="5" name="Footer Placeholder 4">
            <a:extLst>
              <a:ext uri="{FF2B5EF4-FFF2-40B4-BE49-F238E27FC236}">
                <a16:creationId xmlns:a16="http://schemas.microsoft.com/office/drawing/2014/main" id="{B6AC280F-FA93-6D37-4ADB-EAFC0FCDFA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09792FC-9117-5CAF-377B-1158403D31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6F9E6-6F35-4EEE-AC0D-1D22E6C3D3E1}" type="slidenum">
              <a:rPr lang="en-US" smtClean="0"/>
              <a:t>‹#›</a:t>
            </a:fld>
            <a:endParaRPr lang="en-US"/>
          </a:p>
        </p:txBody>
      </p:sp>
    </p:spTree>
    <p:extLst>
      <p:ext uri="{BB962C8B-B14F-4D97-AF65-F5344CB8AC3E}">
        <p14:creationId xmlns:p14="http://schemas.microsoft.com/office/powerpoint/2010/main" val="3111190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C49FD-52CB-248F-A626-13A0E3102E95}"/>
              </a:ext>
            </a:extLst>
          </p:cNvPr>
          <p:cNvSpPr>
            <a:spLocks noGrp="1"/>
          </p:cNvSpPr>
          <p:nvPr>
            <p:ph type="ctrTitle"/>
          </p:nvPr>
        </p:nvSpPr>
        <p:spPr/>
        <p:txBody>
          <a:bodyPr/>
          <a:lstStyle/>
          <a:p>
            <a:r>
              <a:rPr lang="en-US" dirty="0"/>
              <a:t>DEKUT TENDER MANAGEMENT SYSTEM</a:t>
            </a:r>
          </a:p>
        </p:txBody>
      </p:sp>
      <p:sp>
        <p:nvSpPr>
          <p:cNvPr id="3" name="Subtitle 2">
            <a:extLst>
              <a:ext uri="{FF2B5EF4-FFF2-40B4-BE49-F238E27FC236}">
                <a16:creationId xmlns:a16="http://schemas.microsoft.com/office/drawing/2014/main" id="{D44031A4-E9BF-E2A2-F23B-2B60FD58D37A}"/>
              </a:ext>
            </a:extLst>
          </p:cNvPr>
          <p:cNvSpPr>
            <a:spLocks noGrp="1"/>
          </p:cNvSpPr>
          <p:nvPr>
            <p:ph type="subTitle" idx="1"/>
          </p:nvPr>
        </p:nvSpPr>
        <p:spPr>
          <a:xfrm>
            <a:off x="1281629" y="3429000"/>
            <a:ext cx="9144001" cy="3214172"/>
          </a:xfrm>
        </p:spPr>
        <p:txBody>
          <a:bodyPr/>
          <a:lstStyle/>
          <a:p>
            <a:r>
              <a:rPr lang="en-US" dirty="0"/>
              <a:t>NAME: WILLY LINDSAY ONYANGO </a:t>
            </a:r>
          </a:p>
          <a:p>
            <a:r>
              <a:rPr lang="en-US" dirty="0"/>
              <a:t>Reg No:C025-01-0950/2021</a:t>
            </a:r>
          </a:p>
          <a:p>
            <a:r>
              <a:rPr lang="en-US" dirty="0"/>
              <a:t>SUPERVISOR:ELIZABETH MUTUA NDUNGE</a:t>
            </a:r>
          </a:p>
        </p:txBody>
      </p:sp>
    </p:spTree>
    <p:extLst>
      <p:ext uri="{BB962C8B-B14F-4D97-AF65-F5344CB8AC3E}">
        <p14:creationId xmlns:p14="http://schemas.microsoft.com/office/powerpoint/2010/main" val="879114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8647-6CC0-FA03-7871-0354CAD53112}"/>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E12D3C05-1935-0A71-7FC2-971D06228F1B}"/>
              </a:ext>
            </a:extLst>
          </p:cNvPr>
          <p:cNvSpPr>
            <a:spLocks noGrp="1"/>
          </p:cNvSpPr>
          <p:nvPr>
            <p:ph idx="1"/>
          </p:nvPr>
        </p:nvSpPr>
        <p:spPr/>
        <p:txBody>
          <a:bodyPr>
            <a:normAutofit fontScale="77500" lnSpcReduction="20000"/>
          </a:bodyPr>
          <a:lstStyle/>
          <a:p>
            <a:r>
              <a:rPr lang="en-US" dirty="0"/>
              <a:t>Procurement is the process of acquiring goods, services from external sources while a tender is a formal offer made by an institution asking suppliers to submit bids for goods and service provision. Procurement at Dedan Kimathi University of Technology is a vital process for supporting academic and operational needs. However, the current paper-based, manual tendering process  may result to delays and limited transparency. </a:t>
            </a:r>
            <a:r>
              <a:rPr lang="en-US" dirty="0" err="1"/>
              <a:t>DeKUT’s</a:t>
            </a:r>
            <a:r>
              <a:rPr lang="en-US" dirty="0"/>
              <a:t> procurement system must evolve to match the growing demand  and also embrace the digital transformation. </a:t>
            </a:r>
          </a:p>
          <a:p>
            <a:r>
              <a:rPr lang="en-US" dirty="0"/>
              <a:t>Manual tender processing often involves physical advertisement, in-person bid submissions and a lot of paperwork which may be expensive. This not only leads to errors and miscommunication but also reduce the university’s ability to evaluate tenders effectively. Important documentation may be lost, tampered with or mishandled due to lack of a centralized digital system.</a:t>
            </a:r>
          </a:p>
          <a:p>
            <a:r>
              <a:rPr lang="en-US" dirty="0"/>
              <a:t>This project proposes a secure, web-based tender management system tailored for </a:t>
            </a:r>
            <a:r>
              <a:rPr lang="en-US" dirty="0" err="1"/>
              <a:t>DeKUT</a:t>
            </a:r>
            <a:r>
              <a:rPr lang="en-US" dirty="0"/>
              <a:t>. The system will automate critical procurement stages, provide a centralized dashboard for tender tracking and allow digital interaction with suppliers. It aims to improve efficiency, transparency and user accessibility at the same time align with the public procurement  regulations in Kenya.</a:t>
            </a:r>
          </a:p>
        </p:txBody>
      </p:sp>
    </p:spTree>
    <p:extLst>
      <p:ext uri="{BB962C8B-B14F-4D97-AF65-F5344CB8AC3E}">
        <p14:creationId xmlns:p14="http://schemas.microsoft.com/office/powerpoint/2010/main" val="1082802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A78C-F8E2-5DC5-9BC9-0477CE2A66B6}"/>
              </a:ext>
            </a:extLst>
          </p:cNvPr>
          <p:cNvSpPr>
            <a:spLocks noGrp="1"/>
          </p:cNvSpPr>
          <p:nvPr>
            <p:ph type="title"/>
          </p:nvPr>
        </p:nvSpPr>
        <p:spPr/>
        <p:txBody>
          <a:bodyPr/>
          <a:lstStyle/>
          <a:p>
            <a:r>
              <a:rPr lang="en-US" b="1" dirty="0"/>
              <a:t>PROBLEM STATEMENT</a:t>
            </a:r>
          </a:p>
        </p:txBody>
      </p:sp>
      <p:sp>
        <p:nvSpPr>
          <p:cNvPr id="3" name="Content Placeholder 2">
            <a:extLst>
              <a:ext uri="{FF2B5EF4-FFF2-40B4-BE49-F238E27FC236}">
                <a16:creationId xmlns:a16="http://schemas.microsoft.com/office/drawing/2014/main" id="{362A72E1-34CE-E4CD-F9A9-CDEE2B2FAAF9}"/>
              </a:ext>
            </a:extLst>
          </p:cNvPr>
          <p:cNvSpPr>
            <a:spLocks noGrp="1"/>
          </p:cNvSpPr>
          <p:nvPr>
            <p:ph idx="1"/>
          </p:nvPr>
        </p:nvSpPr>
        <p:spPr/>
        <p:txBody>
          <a:bodyPr>
            <a:normAutofit fontScale="92500" lnSpcReduction="20000"/>
          </a:bodyPr>
          <a:lstStyle/>
          <a:p>
            <a:r>
              <a:rPr lang="en-US" dirty="0"/>
              <a:t>Dedan Kimathi University of Technology currently relies on manual procurement methods which are prone to delays and operational risks. These challenges significantly affect the effectiveness of the procurement process from tender advertisement, supplier evaluation and contract awarding.</a:t>
            </a:r>
          </a:p>
          <a:p>
            <a:r>
              <a:rPr lang="en-US" dirty="0"/>
              <a:t>The lack of an automated platform leads to poor document tracking and limited access to suppliers. Moreover, the evaluation and shortlisting of applicants remain time-consuming and susceptible to human error or biasness  making it difficult to ensure fairness and compliance.</a:t>
            </a:r>
          </a:p>
          <a:p>
            <a:r>
              <a:rPr lang="en-US" dirty="0"/>
              <a:t>This project addresses these issues by developing a system that will facilitate digital tender posting, enable online application, automate shortlisting and integrate tracking and performance rating features for vendors/suppliers. The solution is designed to enhance transparency, speed and accountability in the university’s procurement operations.</a:t>
            </a:r>
          </a:p>
        </p:txBody>
      </p:sp>
    </p:spTree>
    <p:extLst>
      <p:ext uri="{BB962C8B-B14F-4D97-AF65-F5344CB8AC3E}">
        <p14:creationId xmlns:p14="http://schemas.microsoft.com/office/powerpoint/2010/main" val="346032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B3B5-6BC6-E238-343D-3FB7CEE86FC5}"/>
              </a:ext>
            </a:extLst>
          </p:cNvPr>
          <p:cNvSpPr>
            <a:spLocks noGrp="1"/>
          </p:cNvSpPr>
          <p:nvPr>
            <p:ph type="title"/>
          </p:nvPr>
        </p:nvSpPr>
        <p:spPr/>
        <p:txBody>
          <a:bodyPr/>
          <a:lstStyle/>
          <a:p>
            <a:r>
              <a:rPr lang="en-US" b="1" dirty="0"/>
              <a:t>OBJECTIVES </a:t>
            </a:r>
          </a:p>
        </p:txBody>
      </p:sp>
      <p:sp>
        <p:nvSpPr>
          <p:cNvPr id="3" name="Content Placeholder 2">
            <a:extLst>
              <a:ext uri="{FF2B5EF4-FFF2-40B4-BE49-F238E27FC236}">
                <a16:creationId xmlns:a16="http://schemas.microsoft.com/office/drawing/2014/main" id="{DE04DFD7-6F1B-C666-B943-ADC282A077D3}"/>
              </a:ext>
            </a:extLst>
          </p:cNvPr>
          <p:cNvSpPr>
            <a:spLocks noGrp="1"/>
          </p:cNvSpPr>
          <p:nvPr>
            <p:ph idx="1"/>
          </p:nvPr>
        </p:nvSpPr>
        <p:spPr/>
        <p:txBody>
          <a:bodyPr>
            <a:normAutofit fontScale="85000" lnSpcReduction="20000"/>
          </a:bodyPr>
          <a:lstStyle/>
          <a:p>
            <a:r>
              <a:rPr lang="en-US" b="1" dirty="0"/>
              <a:t>General Objectives</a:t>
            </a:r>
          </a:p>
          <a:p>
            <a:pPr marL="0" indent="0">
              <a:buNone/>
            </a:pPr>
            <a:r>
              <a:rPr lang="en-US" dirty="0"/>
              <a:t>To develop a </a:t>
            </a:r>
            <a:r>
              <a:rPr lang="en-US" dirty="0" err="1"/>
              <a:t>DeKUT</a:t>
            </a:r>
            <a:r>
              <a:rPr lang="en-US" dirty="0"/>
              <a:t>  Tender Management System </a:t>
            </a:r>
          </a:p>
          <a:p>
            <a:pPr marL="0" indent="0">
              <a:buNone/>
            </a:pPr>
            <a:endParaRPr lang="en-US" dirty="0"/>
          </a:p>
          <a:p>
            <a:pPr marL="0" indent="0">
              <a:buNone/>
            </a:pPr>
            <a:r>
              <a:rPr lang="en-US" b="1" dirty="0"/>
              <a:t>Specific Objectives</a:t>
            </a:r>
          </a:p>
          <a:p>
            <a:pPr marL="514350" indent="-514350">
              <a:buFont typeface="+mj-lt"/>
              <a:buAutoNum type="arabicPeriod"/>
            </a:pPr>
            <a:r>
              <a:rPr lang="en-US" dirty="0"/>
              <a:t>Allow the university advertise for tenders.</a:t>
            </a:r>
          </a:p>
          <a:p>
            <a:pPr marL="514350" indent="-514350">
              <a:buFont typeface="+mj-lt"/>
              <a:buAutoNum type="arabicPeriod"/>
            </a:pPr>
            <a:r>
              <a:rPr lang="en-US" dirty="0"/>
              <a:t>Allow people to apply for tenders.</a:t>
            </a:r>
          </a:p>
          <a:p>
            <a:pPr marL="514350" indent="-514350">
              <a:buFont typeface="+mj-lt"/>
              <a:buAutoNum type="arabicPeriod"/>
            </a:pPr>
            <a:r>
              <a:rPr lang="en-US" dirty="0"/>
              <a:t>Match applicant expertise with tender requirements automatically and do shortlisting.</a:t>
            </a:r>
          </a:p>
          <a:p>
            <a:pPr marL="514350" indent="-514350">
              <a:buFont typeface="+mj-lt"/>
              <a:buAutoNum type="arabicPeriod"/>
            </a:pPr>
            <a:r>
              <a:rPr lang="en-US" dirty="0"/>
              <a:t>Track tenders and work to closure.</a:t>
            </a:r>
          </a:p>
          <a:p>
            <a:pPr marL="514350" indent="-514350">
              <a:buFont typeface="+mj-lt"/>
              <a:buAutoNum type="arabicPeriod"/>
            </a:pPr>
            <a:r>
              <a:rPr lang="en-US" dirty="0"/>
              <a:t>Allow the university to make payments.</a:t>
            </a:r>
          </a:p>
          <a:p>
            <a:pPr marL="514350" indent="-514350">
              <a:buFont typeface="+mj-lt"/>
              <a:buAutoNum type="arabicPeriod"/>
            </a:pPr>
            <a:r>
              <a:rPr lang="en-US" dirty="0"/>
              <a:t>To rate service providers.</a:t>
            </a:r>
          </a:p>
          <a:p>
            <a:pPr marL="0" indent="0">
              <a:buNone/>
            </a:pPr>
            <a:endParaRPr lang="en-US" dirty="0"/>
          </a:p>
        </p:txBody>
      </p:sp>
    </p:spTree>
    <p:extLst>
      <p:ext uri="{BB962C8B-B14F-4D97-AF65-F5344CB8AC3E}">
        <p14:creationId xmlns:p14="http://schemas.microsoft.com/office/powerpoint/2010/main" val="3993133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5209-D4BB-E4F3-3693-BA1658C1F41D}"/>
              </a:ext>
            </a:extLst>
          </p:cNvPr>
          <p:cNvSpPr>
            <a:spLocks noGrp="1"/>
          </p:cNvSpPr>
          <p:nvPr>
            <p:ph type="title"/>
          </p:nvPr>
        </p:nvSpPr>
        <p:spPr/>
        <p:txBody>
          <a:bodyPr/>
          <a:lstStyle/>
          <a:p>
            <a:r>
              <a:rPr lang="en-US" b="1" dirty="0"/>
              <a:t>RESEARCH GAP</a:t>
            </a:r>
          </a:p>
        </p:txBody>
      </p:sp>
      <p:sp>
        <p:nvSpPr>
          <p:cNvPr id="3" name="Content Placeholder 2">
            <a:extLst>
              <a:ext uri="{FF2B5EF4-FFF2-40B4-BE49-F238E27FC236}">
                <a16:creationId xmlns:a16="http://schemas.microsoft.com/office/drawing/2014/main" id="{8595BBE5-0D73-5DFB-4166-709A9891EF30}"/>
              </a:ext>
            </a:extLst>
          </p:cNvPr>
          <p:cNvSpPr>
            <a:spLocks noGrp="1"/>
          </p:cNvSpPr>
          <p:nvPr>
            <p:ph idx="1"/>
          </p:nvPr>
        </p:nvSpPr>
        <p:spPr/>
        <p:txBody>
          <a:bodyPr>
            <a:normAutofit fontScale="92500" lnSpcReduction="20000"/>
          </a:bodyPr>
          <a:lstStyle/>
          <a:p>
            <a:r>
              <a:rPr lang="en-US" dirty="0"/>
              <a:t>Many existing e-procurement platforms such as SAP Ariba, Coupa and Market Dojo are designed primarily for large commercial organizations and government agencies. While they offer advanced features like contract management and spend analysis, they are often expensive, and not tailored to the operational scale or academic context of institutions like </a:t>
            </a:r>
            <a:r>
              <a:rPr lang="en-US" dirty="0" err="1"/>
              <a:t>DeKUT</a:t>
            </a:r>
            <a:r>
              <a:rPr lang="en-US" dirty="0"/>
              <a:t>.</a:t>
            </a:r>
          </a:p>
          <a:p>
            <a:r>
              <a:rPr lang="en-US" dirty="0"/>
              <a:t>Additionally, most commercial platforms lack support for localized needs such as integration with Kenyan procurement laws, vendor evaluations or public institution payment workflows. These systems often overlook usability challenges for non-technical staff and small suppliers.</a:t>
            </a:r>
          </a:p>
          <a:p>
            <a:r>
              <a:rPr lang="en-US" dirty="0"/>
              <a:t>This project identifies a gap in the availability of cost-effective, context-aware and university-friendly tender management system. The </a:t>
            </a:r>
            <a:r>
              <a:rPr lang="en-US" dirty="0" err="1"/>
              <a:t>DeKUT</a:t>
            </a:r>
            <a:r>
              <a:rPr lang="en-US" dirty="0"/>
              <a:t> tender management system seeks to fill this gap by offering a lightweight, customizable and regulation-compliant alternative.</a:t>
            </a:r>
          </a:p>
        </p:txBody>
      </p:sp>
    </p:spTree>
    <p:extLst>
      <p:ext uri="{BB962C8B-B14F-4D97-AF65-F5344CB8AC3E}">
        <p14:creationId xmlns:p14="http://schemas.microsoft.com/office/powerpoint/2010/main" val="106178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BEA92-18DC-05B1-39B1-DDD27844E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6680E-EDF4-3263-77A7-4DEA096FADEB}"/>
              </a:ext>
            </a:extLst>
          </p:cNvPr>
          <p:cNvSpPr>
            <a:spLocks noGrp="1"/>
          </p:cNvSpPr>
          <p:nvPr>
            <p:ph type="title"/>
          </p:nvPr>
        </p:nvSpPr>
        <p:spPr/>
        <p:txBody>
          <a:bodyPr/>
          <a:lstStyle/>
          <a:p>
            <a:r>
              <a:rPr lang="en-US" b="1" dirty="0"/>
              <a:t>METHODOLOGY</a:t>
            </a:r>
          </a:p>
        </p:txBody>
      </p:sp>
      <p:sp>
        <p:nvSpPr>
          <p:cNvPr id="3" name="Content Placeholder 2">
            <a:extLst>
              <a:ext uri="{FF2B5EF4-FFF2-40B4-BE49-F238E27FC236}">
                <a16:creationId xmlns:a16="http://schemas.microsoft.com/office/drawing/2014/main" id="{787362FF-034D-EBB1-0069-48DF1E0B226B}"/>
              </a:ext>
            </a:extLst>
          </p:cNvPr>
          <p:cNvSpPr>
            <a:spLocks noGrp="1"/>
          </p:cNvSpPr>
          <p:nvPr>
            <p:ph idx="1"/>
          </p:nvPr>
        </p:nvSpPr>
        <p:spPr/>
        <p:txBody>
          <a:bodyPr>
            <a:normAutofit fontScale="92500" lnSpcReduction="10000"/>
          </a:bodyPr>
          <a:lstStyle/>
          <a:p>
            <a:r>
              <a:rPr lang="en-US" dirty="0"/>
              <a:t>The proposed Tender management system will be developed using User –Centered Design approach to ensure that the needs of all users  are addressed at every stage. Their feedback will guide both functionality and usability. </a:t>
            </a:r>
            <a:r>
              <a:rPr lang="en-US"/>
              <a:t>The development </a:t>
            </a:r>
            <a:r>
              <a:rPr lang="en-US" dirty="0"/>
              <a:t>will follow the Agile software development methodology with work broken into sprints. Each sprint will focus on specific modules like supplier registration, automated shortlisting and tender creation followed by testing and user feedback.</a:t>
            </a:r>
          </a:p>
          <a:p>
            <a:r>
              <a:rPr lang="en-US" dirty="0"/>
              <a:t>Technically, the system will be implemented as a web-based application. It will use React for the frontend interface, Django(Python) for the backend logic and MySQL for secure data storage. RESTful APIs will also be used to enable modular development and integration with external platforms like M-</a:t>
            </a:r>
            <a:r>
              <a:rPr lang="en-US" dirty="0" err="1"/>
              <a:t>pesa</a:t>
            </a:r>
            <a:r>
              <a:rPr lang="en-US" dirty="0"/>
              <a:t> and eCitizen portal.</a:t>
            </a:r>
          </a:p>
        </p:txBody>
      </p:sp>
    </p:spTree>
    <p:extLst>
      <p:ext uri="{BB962C8B-B14F-4D97-AF65-F5344CB8AC3E}">
        <p14:creationId xmlns:p14="http://schemas.microsoft.com/office/powerpoint/2010/main" val="3726479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683</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DEKUT TENDER MANAGEMENT SYSTEM</vt:lpstr>
      <vt:lpstr>INTRODUCTION</vt:lpstr>
      <vt:lpstr>PROBLEM STATEMENT</vt:lpstr>
      <vt:lpstr>OBJECTIVES </vt:lpstr>
      <vt:lpstr>RESEARCH GAP</vt:lpstr>
      <vt:lpstr>METHODOLOGY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jean beau</dc:creator>
  <cp:lastModifiedBy>willy onyango</cp:lastModifiedBy>
  <cp:revision>2</cp:revision>
  <dcterms:created xsi:type="dcterms:W3CDTF">2025-07-10T12:11:31Z</dcterms:created>
  <dcterms:modified xsi:type="dcterms:W3CDTF">2026-01-30T16:46:45Z</dcterms:modified>
</cp:coreProperties>
</file>